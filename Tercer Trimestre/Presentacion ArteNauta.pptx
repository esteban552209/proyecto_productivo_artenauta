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2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3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y="6858000" cx="12192000"/>
  <p:notesSz cx="12192000" cy="6858000"/>
  <p:embeddedFontLst>
    <p:embeddedFont>
      <p:font typeface="Roboto"/>
      <p:regular r:id="rId18"/>
      <p:bold r:id="rId19"/>
      <p:italic r:id="rId20"/>
      <p:boldItalic r:id="rId2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0" orient="horz"/>
        <p:guide pos="216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Roboto-italic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21" Type="http://schemas.openxmlformats.org/officeDocument/2006/relationships/font" Target="fonts/Roboto-boldItalic.fnt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font" Target="fonts/Roboto-bold.fntdata"/><Relationship Id="rId6" Type="http://schemas.openxmlformats.org/officeDocument/2006/relationships/slide" Target="slides/slide1.xml"/><Relationship Id="rId18" Type="http://schemas.openxmlformats.org/officeDocument/2006/relationships/font" Target="fonts/Roboto-regular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3" name="Google Shape;43;p1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1" name="Google Shape;51;p2:notes"/>
          <p:cNvSpPr/>
          <p:nvPr>
            <p:ph idx="2" type="sldImg"/>
          </p:nvPr>
        </p:nvSpPr>
        <p:spPr>
          <a:xfrm>
            <a:off x="3810000" y="514350"/>
            <a:ext cx="4573588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4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9" name="Google Shape;59;p4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5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8" name="Google Shape;68;p5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6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74" name="Google Shape;74;p6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7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0" name="Google Shape;80;p7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9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7" name="Google Shape;87;p9:notes"/>
          <p:cNvSpPr/>
          <p:nvPr>
            <p:ph idx="2" type="sldImg"/>
          </p:nvPr>
        </p:nvSpPr>
        <p:spPr>
          <a:xfrm>
            <a:off x="3810000" y="514350"/>
            <a:ext cx="4573500" cy="2571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1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4" name="Google Shape;94;p11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2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1" name="Google Shape;101;p12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4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8" name="Google Shape;108;p14:notes"/>
          <p:cNvSpPr/>
          <p:nvPr>
            <p:ph idx="2" type="sldImg"/>
          </p:nvPr>
        </p:nvSpPr>
        <p:spPr>
          <a:xfrm>
            <a:off x="3810000" y="514350"/>
            <a:ext cx="4573588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5" name="Google Shape;115;p15:notes"/>
          <p:cNvSpPr/>
          <p:nvPr>
            <p:ph idx="2" type="sldImg"/>
          </p:nvPr>
        </p:nvSpPr>
        <p:spPr>
          <a:xfrm>
            <a:off x="3810000" y="514350"/>
            <a:ext cx="4573588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0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2" name="Google Shape;122;p50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2"/>
          <p:cNvSpPr txBox="1"/>
          <p:nvPr>
            <p:ph type="title"/>
          </p:nvPr>
        </p:nvSpPr>
        <p:spPr>
          <a:xfrm>
            <a:off x="529261" y="358447"/>
            <a:ext cx="7123430" cy="574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" type="body"/>
          </p:nvPr>
        </p:nvSpPr>
        <p:spPr>
          <a:xfrm>
            <a:off x="2892425" y="1997455"/>
            <a:ext cx="6489700" cy="304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2"/>
          <p:cNvSpPr txBox="1"/>
          <p:nvPr>
            <p:ph idx="11" type="ftr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2"/>
          <p:cNvSpPr txBox="1"/>
          <p:nvPr>
            <p:ph idx="10" type="dt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"/>
          <p:cNvSpPr txBox="1"/>
          <p:nvPr>
            <p:ph idx="12" type="sldNum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>
  <p:cSld name="Title Slide">
    <p:bg>
      <p:bgPr>
        <a:solidFill>
          <a:schemeClr val="lt1"/>
        </a:soli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oogle Shape;19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3"/>
          <p:cNvSpPr txBox="1"/>
          <p:nvPr>
            <p:ph type="ctrTitle"/>
          </p:nvPr>
        </p:nvSpPr>
        <p:spPr>
          <a:xfrm>
            <a:off x="3585467" y="1642745"/>
            <a:ext cx="5335905" cy="185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3"/>
          <p:cNvSpPr txBox="1"/>
          <p:nvPr>
            <p:ph idx="1" type="subTitle"/>
          </p:nvPr>
        </p:nvSpPr>
        <p:spPr>
          <a:xfrm>
            <a:off x="3197225" y="4435855"/>
            <a:ext cx="6010275" cy="848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3"/>
          <p:cNvSpPr txBox="1"/>
          <p:nvPr>
            <p:ph idx="11" type="ftr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3"/>
          <p:cNvSpPr txBox="1"/>
          <p:nvPr>
            <p:ph idx="10" type="dt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3"/>
          <p:cNvSpPr txBox="1"/>
          <p:nvPr>
            <p:ph idx="12" type="sldNum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>
  <p:cSld name="Blank">
    <p:bg>
      <p:bgPr>
        <a:solidFill>
          <a:schemeClr val="lt1"/>
        </a:solidFill>
      </p:bgPr>
    </p:bg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"/>
          <p:cNvSpPr txBox="1"/>
          <p:nvPr>
            <p:ph idx="11" type="ftr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4"/>
          <p:cNvSpPr txBox="1"/>
          <p:nvPr>
            <p:ph idx="10" type="dt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4"/>
          <p:cNvSpPr txBox="1"/>
          <p:nvPr>
            <p:ph idx="12" type="sldNum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>
  <p:cSld name="Two Content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5"/>
          <p:cNvSpPr txBox="1"/>
          <p:nvPr>
            <p:ph type="title"/>
          </p:nvPr>
        </p:nvSpPr>
        <p:spPr>
          <a:xfrm>
            <a:off x="529261" y="358447"/>
            <a:ext cx="7123430" cy="574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" type="body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2" type="body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11" type="ftr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5"/>
          <p:cNvSpPr txBox="1"/>
          <p:nvPr>
            <p:ph idx="10" type="dt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5"/>
          <p:cNvSpPr txBox="1"/>
          <p:nvPr>
            <p:ph idx="12" type="sldNum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6"/>
          <p:cNvSpPr txBox="1"/>
          <p:nvPr>
            <p:ph type="title"/>
          </p:nvPr>
        </p:nvSpPr>
        <p:spPr>
          <a:xfrm>
            <a:off x="529261" y="358447"/>
            <a:ext cx="7123430" cy="574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0" type="dt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6"/>
          <p:cNvSpPr txBox="1"/>
          <p:nvPr>
            <p:ph idx="12" type="sldNum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image" Target="../media/image3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6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7;p1"/>
          <p:cNvSpPr txBox="1"/>
          <p:nvPr>
            <p:ph type="title"/>
          </p:nvPr>
        </p:nvSpPr>
        <p:spPr>
          <a:xfrm>
            <a:off x="529261" y="358447"/>
            <a:ext cx="7123430" cy="574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36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" type="body"/>
          </p:nvPr>
        </p:nvSpPr>
        <p:spPr>
          <a:xfrm>
            <a:off x="2892425" y="1997455"/>
            <a:ext cx="6489700" cy="304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0" type="dt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1"/>
          <p:cNvSpPr txBox="1"/>
          <p:nvPr>
            <p:ph idx="12" type="sldNum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jpg"/><Relationship Id="rId4" Type="http://schemas.openxmlformats.org/officeDocument/2006/relationships/image" Target="../media/image1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10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Google Shape;45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7"/>
          <p:cNvSpPr txBox="1"/>
          <p:nvPr>
            <p:ph type="title"/>
          </p:nvPr>
        </p:nvSpPr>
        <p:spPr>
          <a:xfrm>
            <a:off x="1068446" y="2519198"/>
            <a:ext cx="3339600" cy="84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-CO" sz="5400">
                <a:solidFill>
                  <a:srgbClr val="3E3E3E"/>
                </a:solidFill>
              </a:rPr>
              <a:t>ArteNauta</a:t>
            </a:r>
            <a:endParaRPr sz="5400"/>
          </a:p>
        </p:txBody>
      </p:sp>
      <p:pic>
        <p:nvPicPr>
          <p:cNvPr id="47" name="Google Shape;47;p7" title="LOGO.png"/>
          <p:cNvPicPr preferRelativeResize="0"/>
          <p:nvPr/>
        </p:nvPicPr>
        <p:blipFill rotWithShape="1">
          <a:blip r:embed="rId4">
            <a:alphaModFix/>
          </a:blip>
          <a:srcRect b="13722" l="0" r="0" t="13715"/>
          <a:stretch/>
        </p:blipFill>
        <p:spPr>
          <a:xfrm>
            <a:off x="8257450" y="3706275"/>
            <a:ext cx="3028373" cy="2198651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7"/>
          <p:cNvSpPr txBox="1"/>
          <p:nvPr/>
        </p:nvSpPr>
        <p:spPr>
          <a:xfrm>
            <a:off x="1068450" y="3463800"/>
            <a:ext cx="35196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s-CO" sz="1500">
                <a:solidFill>
                  <a:schemeClr val="dk1"/>
                </a:solidFill>
              </a:rPr>
              <a:t>Julian Esteban Nossa Poveda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s-CO" sz="1500">
                <a:solidFill>
                  <a:schemeClr val="dk1"/>
                </a:solidFill>
              </a:rPr>
              <a:t>Johan Esteban Acosta Moncada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s-CO" sz="1500">
                <a:solidFill>
                  <a:schemeClr val="dk1"/>
                </a:solidFill>
              </a:rPr>
              <a:t>Bryam Alejandro Mora Mendoza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s-CO" sz="1500">
                <a:solidFill>
                  <a:schemeClr val="dk1"/>
                </a:solidFill>
              </a:rPr>
              <a:t>Jorge Alexander Herrera Camacho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oogle Shape;53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8"/>
          <p:cNvSpPr txBox="1"/>
          <p:nvPr/>
        </p:nvSpPr>
        <p:spPr>
          <a:xfrm>
            <a:off x="4242150" y="2252345"/>
            <a:ext cx="3707700" cy="93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lang="es-CO" sz="6000">
                <a:solidFill>
                  <a:srgbClr val="4D4D4C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ArteNauta</a:t>
            </a:r>
            <a:endParaRPr b="0" i="0" sz="60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5" name="Google Shape;55;p8"/>
          <p:cNvSpPr/>
          <p:nvPr/>
        </p:nvSpPr>
        <p:spPr>
          <a:xfrm>
            <a:off x="4972052" y="3336539"/>
            <a:ext cx="2247900" cy="0"/>
          </a:xfrm>
          <a:custGeom>
            <a:rect b="b" l="l" r="r" t="t"/>
            <a:pathLst>
              <a:path extrusionOk="0" h="120000" w="2247900">
                <a:moveTo>
                  <a:pt x="0" y="0"/>
                </a:moveTo>
                <a:lnTo>
                  <a:pt x="2247542" y="0"/>
                </a:lnTo>
              </a:path>
            </a:pathLst>
          </a:custGeom>
          <a:noFill/>
          <a:ln cap="flat" cmpd="sng" w="12650">
            <a:solidFill>
              <a:srgbClr val="37AA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p8"/>
          <p:cNvSpPr txBox="1"/>
          <p:nvPr/>
        </p:nvSpPr>
        <p:spPr>
          <a:xfrm>
            <a:off x="3016350" y="3484450"/>
            <a:ext cx="6159300" cy="28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CO" sz="1800">
                <a:solidFill>
                  <a:srgbClr val="212529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 PLATAFORMA DE HABILIDADES ARTISTICAS - ARTENAUTA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9"/>
          <p:cNvSpPr txBox="1"/>
          <p:nvPr>
            <p:ph type="title"/>
          </p:nvPr>
        </p:nvSpPr>
        <p:spPr>
          <a:xfrm>
            <a:off x="762000" y="967104"/>
            <a:ext cx="3947160" cy="63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-CO" sz="4000">
                <a:solidFill>
                  <a:srgbClr val="000000"/>
                </a:solidFill>
              </a:rPr>
              <a:t>Contextualización</a:t>
            </a:r>
            <a:endParaRPr sz="4000"/>
          </a:p>
        </p:txBody>
      </p:sp>
      <p:sp>
        <p:nvSpPr>
          <p:cNvPr id="63" name="Google Shape;63;p9"/>
          <p:cNvSpPr/>
          <p:nvPr/>
        </p:nvSpPr>
        <p:spPr>
          <a:xfrm>
            <a:off x="685800" y="1676400"/>
            <a:ext cx="3961765" cy="0"/>
          </a:xfrm>
          <a:custGeom>
            <a:rect b="b" l="l" r="r" t="t"/>
            <a:pathLst>
              <a:path extrusionOk="0" h="120000" w="3961765">
                <a:moveTo>
                  <a:pt x="0" y="0"/>
                </a:moveTo>
                <a:lnTo>
                  <a:pt x="3961770" y="0"/>
                </a:lnTo>
              </a:path>
            </a:pathLst>
          </a:custGeom>
          <a:noFill/>
          <a:ln cap="flat" cmpd="sng" w="12650">
            <a:solidFill>
              <a:srgbClr val="37AA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 txBox="1"/>
          <p:nvPr/>
        </p:nvSpPr>
        <p:spPr>
          <a:xfrm>
            <a:off x="758825" y="2149855"/>
            <a:ext cx="4570800" cy="238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marR="508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CO" sz="2200"/>
              <a:t>ArteNauta es una plataforma diseñada para ofrecer un espacio confiable para generar visibilidad a las personas que cuentan con habilidades artisticas o personas interesadas en el arte y sus referentes.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5" name="Google Shape;65;p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764425" y="1322438"/>
            <a:ext cx="5829300" cy="4600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0"/>
          <p:cNvSpPr txBox="1"/>
          <p:nvPr>
            <p:ph type="title"/>
          </p:nvPr>
        </p:nvSpPr>
        <p:spPr>
          <a:xfrm>
            <a:off x="529261" y="358447"/>
            <a:ext cx="7123500" cy="5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-CO"/>
              <a:t>Objetivos especificos</a:t>
            </a:r>
            <a:endParaRPr/>
          </a:p>
        </p:txBody>
      </p:sp>
      <p:sp>
        <p:nvSpPr>
          <p:cNvPr id="71" name="Google Shape;71;p10"/>
          <p:cNvSpPr txBox="1"/>
          <p:nvPr/>
        </p:nvSpPr>
        <p:spPr>
          <a:xfrm>
            <a:off x="1478550" y="2279025"/>
            <a:ext cx="8621400" cy="292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-406400" lvl="0" marL="457200" marR="508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lang="es-CO" sz="2800"/>
              <a:t>Desarrollar la autenticacion de usuarios con sus respectivos perfiles. </a:t>
            </a:r>
            <a:endParaRPr sz="2800"/>
          </a:p>
          <a:p>
            <a:pPr indent="-406400" lvl="0" marL="457200" marR="508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lang="es-CO" sz="2800"/>
              <a:t>Implementar el modulo de publicaciones</a:t>
            </a:r>
            <a:endParaRPr sz="2800"/>
          </a:p>
          <a:p>
            <a:pPr indent="-406400" lvl="0" marL="457200" marR="508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lang="es-CO" sz="2800"/>
              <a:t>Desarrollar el modulo de conversaciones entre usuarios </a:t>
            </a:r>
            <a:endParaRPr sz="2800"/>
          </a:p>
          <a:p>
            <a:pPr indent="-406400" lvl="0" marL="457200" marR="508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lang="es-CO" sz="2800"/>
              <a:t>Construir el modulo de notificaciones del sistema</a:t>
            </a:r>
            <a:endParaRPr b="0" i="0" sz="2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1"/>
          <p:cNvSpPr txBox="1"/>
          <p:nvPr>
            <p:ph type="title"/>
          </p:nvPr>
        </p:nvSpPr>
        <p:spPr>
          <a:xfrm>
            <a:off x="529261" y="358447"/>
            <a:ext cx="7123500" cy="5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-CO"/>
              <a:t>Objetivo general</a:t>
            </a:r>
            <a:endParaRPr/>
          </a:p>
        </p:txBody>
      </p:sp>
      <p:sp>
        <p:nvSpPr>
          <p:cNvPr id="77" name="Google Shape;77;p11"/>
          <p:cNvSpPr txBox="1"/>
          <p:nvPr>
            <p:ph idx="1" type="body"/>
          </p:nvPr>
        </p:nvSpPr>
        <p:spPr>
          <a:xfrm>
            <a:off x="2011575" y="2578600"/>
            <a:ext cx="8459400" cy="239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-425450" lvl="0" marL="457200" marR="508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Char char="●"/>
            </a:pPr>
            <a:r>
              <a:rPr lang="es-CO" sz="3100"/>
              <a:t>Desarrollar una plataforma tipo red social que incremente la visibilidad de los artistas, facilitando de forma segura y con garantías el contacto de los artistas y la búsqueda de información sobre servicios artísticos.</a:t>
            </a:r>
            <a:endParaRPr sz="34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2"/>
          <p:cNvSpPr txBox="1"/>
          <p:nvPr>
            <p:ph type="title"/>
          </p:nvPr>
        </p:nvSpPr>
        <p:spPr>
          <a:xfrm>
            <a:off x="529248" y="358450"/>
            <a:ext cx="8522100" cy="5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-CO"/>
              <a:t>Construccion de la base de datos (SQL)</a:t>
            </a:r>
            <a:endParaRPr/>
          </a:p>
        </p:txBody>
      </p:sp>
      <p:sp>
        <p:nvSpPr>
          <p:cNvPr id="83" name="Google Shape;83;p12"/>
          <p:cNvSpPr txBox="1"/>
          <p:nvPr/>
        </p:nvSpPr>
        <p:spPr>
          <a:xfrm>
            <a:off x="762075" y="1568850"/>
            <a:ext cx="4665900" cy="272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marR="508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CO" sz="2200"/>
              <a:t>La base de datos de ArteNauta se conforma de 12 tablas con 4 </a:t>
            </a:r>
            <a:r>
              <a:rPr lang="es-CO" sz="2200"/>
              <a:t>módulos (Validacion de usuarios, notificaciones, conversaciones, publicaciones), tambien cuenta con inserciones de 50 datos por tabla y 10 consultas sencillas, subconsultas y joins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4" name="Google Shape;84;p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24500" y="1568850"/>
            <a:ext cx="5754212" cy="50076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3"/>
          <p:cNvSpPr txBox="1"/>
          <p:nvPr>
            <p:ph type="title"/>
          </p:nvPr>
        </p:nvSpPr>
        <p:spPr>
          <a:xfrm>
            <a:off x="268775" y="441350"/>
            <a:ext cx="10437900" cy="5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-CO"/>
              <a:t>U</a:t>
            </a:r>
            <a:r>
              <a:rPr lang="es-CO"/>
              <a:t>so de la base de datos a través de sentencias DML</a:t>
            </a:r>
            <a:endParaRPr/>
          </a:p>
        </p:txBody>
      </p:sp>
      <p:sp>
        <p:nvSpPr>
          <p:cNvPr id="90" name="Google Shape;90;p13"/>
          <p:cNvSpPr txBox="1"/>
          <p:nvPr/>
        </p:nvSpPr>
        <p:spPr>
          <a:xfrm>
            <a:off x="632925" y="1552700"/>
            <a:ext cx="4262100" cy="170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marR="508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CO" sz="2200"/>
              <a:t>En las tablas de la base de datos se contaran con 50 inserciones de datos las cuales simulan la infromacion que se </a:t>
            </a:r>
            <a:r>
              <a:rPr lang="es-CO" sz="2200"/>
              <a:t>guardará desde el sistema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1" name="Google Shape;91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09075" y="2516850"/>
            <a:ext cx="6588375" cy="38823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4"/>
          <p:cNvSpPr txBox="1"/>
          <p:nvPr>
            <p:ph type="title"/>
          </p:nvPr>
        </p:nvSpPr>
        <p:spPr>
          <a:xfrm>
            <a:off x="206376" y="358450"/>
            <a:ext cx="10807200" cy="5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-CO"/>
              <a:t>Uso de la base de datos </a:t>
            </a:r>
            <a:r>
              <a:rPr lang="es-CO"/>
              <a:t>a través</a:t>
            </a:r>
            <a:r>
              <a:rPr lang="es-CO"/>
              <a:t> de sentencias DQL</a:t>
            </a:r>
            <a:endParaRPr/>
          </a:p>
        </p:txBody>
      </p:sp>
      <p:sp>
        <p:nvSpPr>
          <p:cNvPr id="97" name="Google Shape;97;p14"/>
          <p:cNvSpPr txBox="1"/>
          <p:nvPr/>
        </p:nvSpPr>
        <p:spPr>
          <a:xfrm>
            <a:off x="632925" y="1552700"/>
            <a:ext cx="4262100" cy="136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marR="508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CO" sz="2200"/>
              <a:t>Las consultas DQL se usaran para solicitar y analizar informacion de los datos que se encuentras dentro de las tablas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8" name="Google Shape;98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82350" y="1671300"/>
            <a:ext cx="6644250" cy="5186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5"/>
          <p:cNvSpPr txBox="1"/>
          <p:nvPr>
            <p:ph type="title"/>
          </p:nvPr>
        </p:nvSpPr>
        <p:spPr>
          <a:xfrm>
            <a:off x="529261" y="358447"/>
            <a:ext cx="7123500" cy="5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-CO"/>
              <a:t>Procedimientos almacenados</a:t>
            </a:r>
            <a:endParaRPr/>
          </a:p>
        </p:txBody>
      </p:sp>
      <p:sp>
        <p:nvSpPr>
          <p:cNvPr id="104" name="Google Shape;104;p15"/>
          <p:cNvSpPr txBox="1"/>
          <p:nvPr/>
        </p:nvSpPr>
        <p:spPr>
          <a:xfrm>
            <a:off x="632925" y="1552700"/>
            <a:ext cx="4262100" cy="170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marR="508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CO" sz="2200"/>
              <a:t>Los procedimientos almacenados de la base de datos ayudan a usar instrucciones SQL, ejecutarlas y reutilizarlas para un mayor rendimiento y seguridad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5" name="Google Shape;105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15150" y="2127197"/>
            <a:ext cx="6992176" cy="4229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6"/>
          <p:cNvSpPr txBox="1"/>
          <p:nvPr>
            <p:ph type="title"/>
          </p:nvPr>
        </p:nvSpPr>
        <p:spPr>
          <a:xfrm>
            <a:off x="513111" y="374572"/>
            <a:ext cx="7123500" cy="5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-CO"/>
              <a:t>Front-End Funcional</a:t>
            </a:r>
            <a:endParaRPr/>
          </a:p>
        </p:txBody>
      </p:sp>
      <p:sp>
        <p:nvSpPr>
          <p:cNvPr id="111" name="Google Shape;111;p16"/>
          <p:cNvSpPr txBox="1"/>
          <p:nvPr/>
        </p:nvSpPr>
        <p:spPr>
          <a:xfrm>
            <a:off x="632925" y="1552700"/>
            <a:ext cx="59895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marR="508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CO" sz="2200"/>
              <a:t>El Front-End funcional fue desarrollado en base a la combinacion de la biblioteca de JS React y TailwindCSS como estilos.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2" name="Google Shape;112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06950" y="2774925"/>
            <a:ext cx="7746724" cy="3785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7"/>
          <p:cNvSpPr txBox="1"/>
          <p:nvPr>
            <p:ph type="title"/>
          </p:nvPr>
        </p:nvSpPr>
        <p:spPr>
          <a:xfrm>
            <a:off x="529261" y="358447"/>
            <a:ext cx="7123500" cy="5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-CO"/>
              <a:t>Sistema de control de versiones</a:t>
            </a:r>
            <a:endParaRPr/>
          </a:p>
        </p:txBody>
      </p:sp>
      <p:sp>
        <p:nvSpPr>
          <p:cNvPr id="118" name="Google Shape;118;p17"/>
          <p:cNvSpPr txBox="1"/>
          <p:nvPr/>
        </p:nvSpPr>
        <p:spPr>
          <a:xfrm>
            <a:off x="632925" y="1552700"/>
            <a:ext cx="59895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marR="508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CO" sz="2200"/>
              <a:t>El equipo de trabajo cuenta con un GitHub en el cual se suben los trabajos y aportes de cada uno para el proyecto.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9" name="Google Shape;119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40800" y="2973725"/>
            <a:ext cx="10582276" cy="3731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